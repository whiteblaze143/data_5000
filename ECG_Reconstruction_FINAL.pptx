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Efficient 12-Lead ECG Reconstruction</a:t>
            </a:r>
            <a:br/>
            <a:r>
              <a:t>from Reduced Lead 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749039"/>
            <a:ext cx="3931920" cy="18288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EBAC2"/>
                </a:solidFill>
              </a:defRPr>
            </a:pPr>
            <a:r>
              <a:t>A Computationally Lightweight Physics-Informed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0E0E0"/>
                </a:solidFill>
              </a:defRPr>
            </a:pPr>
            <a:r>
              <a:t>Damilola Olaiya  •  Mithun Mani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DATA 5000  |  Carleton University  |  December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Clinical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Cardiovascular Disease: #1 cause of death globally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17.9 million deaths annually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12-Lead ECG: Gold standard diagnosis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But requires 10 electrodes + trained personnel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The Gap: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Consumer wearables: only 1-3 leads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Full diagnosis needs all 12 leads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Our Goal: Reconstruct 12 leads from 3</a:t>
            </a:r>
          </a:p>
        </p:txBody>
      </p:sp>
      <p:pic>
        <p:nvPicPr>
          <p:cNvPr id="6" name="Picture 5" descr="problem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05840"/>
            <a:ext cx="5669280" cy="22448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Insight: Physics Reduces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The 12 leads are NOT independent!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4EC9B0"/>
                </a:solidFill>
              </a:defRPr>
            </a:pPr>
            <a:r>
              <a:t>▸ ✓ 4 Leads are EXACT (Physics):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III = II - I     (Einthoven 1903)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aVR, aVL, aVF    (Goldberger)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4EC9B0"/>
                </a:solidFill>
              </a:defRPr>
            </a:pPr>
            <a:r>
              <a:t>▸ ✓ Only 5 Leads Need Deep Learning: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V1, V2, V3, V5, V6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Result: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Zero parameters for 4 leads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Perfect reconstruction guaranteed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6x fewer params than SOTA</a:t>
            </a:r>
          </a:p>
        </p:txBody>
      </p:sp>
      <p:pic>
        <p:nvPicPr>
          <p:cNvPr id="6" name="Picture 5" descr="approac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05840"/>
            <a:ext cx="5669280" cy="37934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Hybrid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Input: 3 leads (I, II, V4)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Physics Module: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Einthoven + Goldberger laws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→ 4 leads, r = 1.0, zero cost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Deep Learning Module: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1D U-Net (encoder-decoder)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17.1M parameters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→ 5 chest leads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Total: Complete 12-lead ECG</a:t>
            </a:r>
          </a:p>
        </p:txBody>
      </p:sp>
      <p:pic>
        <p:nvPicPr>
          <p:cNvPr id="6" name="Picture 5" descr="architecture_diagram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05840"/>
            <a:ext cx="5669280" cy="23993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Rigorous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Frozen Hyperparameters (LR-validated):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lr = 3×10⁻⁴, batch = 128, epochs = 150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AdamW + ReduceLROnPlateau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Patient-Wise Data Splits: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No data leakage between train/test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Stricter than most prior work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Statistical Framework: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Paired t-test, Cohen's d effect size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Bootstrap 95% CI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Dataset: PTB-XL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21,837 clinical 12-lead ECGs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18,885 unique patients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500 Hz, 10 seconds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Train: 14,363 | Val: 1,914 | Test: 1,932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Preprocessing: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Z-score normalization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Patient-wise stratified splits</a:t>
            </a:r>
          </a:p>
        </p:txBody>
      </p:sp>
      <p:pic>
        <p:nvPicPr>
          <p:cNvPr id="6" name="Picture 5" descr="dataset_character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05840"/>
            <a:ext cx="5669280" cy="37604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Training Convergence</a:t>
            </a:r>
          </a:p>
        </p:txBody>
      </p:sp>
      <p:pic>
        <p:nvPicPr>
          <p:cNvPr id="5" name="Picture 4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10881360" cy="906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0E0E0"/>
                </a:solidFill>
              </a:defRPr>
            </a:pPr>
            <a:r>
              <a:t>Smooth convergence over 150 epochs with early stopping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Overall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0523" y="1463040"/>
            <a:ext cx="274320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23" y="219456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4EC9B0"/>
                </a:solidFill>
              </a:defRPr>
            </a:pPr>
            <a:r>
              <a:t>r = 1.00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23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Physics Leads</a:t>
            </a:r>
            <a:br/>
            <a:r>
              <a:t>(III, aVR, aVL, aVF)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4247" y="1463040"/>
            <a:ext cx="274320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3E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247" y="219456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3EBAC2"/>
                </a:solidFill>
              </a:defRPr>
            </a:pPr>
            <a:r>
              <a:t>r = 0.85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247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DL Leads</a:t>
            </a:r>
            <a:br/>
            <a:r>
              <a:t>(V1-V3, V5-V6)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7971" y="1463040"/>
            <a:ext cx="274320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7971" y="219456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4EC9B0"/>
                </a:solidFill>
              </a:defRPr>
            </a:pPr>
            <a:r>
              <a:t>r = 0.94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7971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Overall</a:t>
            </a:r>
            <a:br/>
            <a:r>
              <a:t>12-Lead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Deep Learning Lead Reconstruction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66647" y="1005840"/>
          <a:ext cx="10058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Lead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Correlation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SNR (dB)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V1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0.818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0.030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19.5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Right Precordial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V2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0.826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0.030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19.3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Right Precordial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V3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0.860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0.027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20.0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Transition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V5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0.891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0.026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20.3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Left Precordial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V6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0.836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0.033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18.3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Left Precordial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0.846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0.029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19.5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Sample ECG Reconstruction</a:t>
            </a:r>
          </a:p>
        </p:txBody>
      </p:sp>
      <p:pic>
        <p:nvPicPr>
          <p:cNvPr id="5" name="Picture 4" descr="reconstruction_samp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10881360" cy="87050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0E0E0"/>
                </a:solidFill>
              </a:defRPr>
            </a:pPr>
            <a:r>
              <a:t>Ground truth (blue) vs Reconstructed (red) — Physics leads perfect, DL leads high fidelity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Sample ECG Reconstruction (Patient 2)</a:t>
            </a:r>
          </a:p>
        </p:txBody>
      </p:sp>
      <p:pic>
        <p:nvPicPr>
          <p:cNvPr id="5" name="Picture 4" descr="reconstruction_sampl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10881360" cy="87050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0E0E0"/>
                </a:solidFill>
              </a:defRPr>
            </a:pPr>
            <a:r>
              <a:t>Consistent performance across different patient morphologies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Per-Lead Analysis: Information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Best: V5 (r = 0.891)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Anatomically closest to input V4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Ground truth correlation V4↔V5 ≈ 0.79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Worst: V2 (r = 0.826)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Anatomically distant from V4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Ground truth correlation V4↔V2 ≈ 0.36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Key Insight: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Performance bounded by input information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Not model capacity limitation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Implication: Input lead selection matters!</a:t>
            </a:r>
          </a:p>
        </p:txBody>
      </p:sp>
      <p:pic>
        <p:nvPicPr>
          <p:cNvPr id="6" name="Picture 5" descr="lead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05840"/>
            <a:ext cx="5669280" cy="48461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Comparison with State-of-the-Art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66647" y="1005840"/>
          <a:ext cx="10058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DL Leads r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Params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Data Split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Linear (Frank)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1970s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0.70-0.75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~0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CNN (Sohn)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~0.85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~30M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Record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LSTM (Lee)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~0.88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~60M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Record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Transformer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~0.90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100M+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Record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Ours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17.1M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</a:defRPr>
                      </a:pPr>
                      <a:r>
                        <a:t>Patient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Competitive Results with Key 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Our Advantages:</a:t>
            </a:r>
          </a:p>
          <a:p>
            <a:pPr lvl="1">
              <a:spcAft>
                <a:spcPts val="500"/>
              </a:spcAft>
              <a:defRPr sz="1400">
                <a:solidFill>
                  <a:srgbClr val="4EC9B0"/>
                </a:solidFill>
              </a:defRPr>
            </a:pPr>
            <a:r>
              <a:t>   ✓ Competitive DL correlation (r = 0.85)</a:t>
            </a:r>
          </a:p>
          <a:p>
            <a:pPr lvl="1">
              <a:spcAft>
                <a:spcPts val="500"/>
              </a:spcAft>
              <a:defRPr sz="1400">
                <a:solidFill>
                  <a:srgbClr val="4EC9B0"/>
                </a:solidFill>
              </a:defRPr>
            </a:pPr>
            <a:r>
              <a:t>   ✓ 6x fewer parameters (17M vs 100M)</a:t>
            </a:r>
          </a:p>
          <a:p>
            <a:pPr lvl="1">
              <a:spcAft>
                <a:spcPts val="500"/>
              </a:spcAft>
              <a:defRPr sz="1400">
                <a:solidFill>
                  <a:srgbClr val="4EC9B0"/>
                </a:solidFill>
              </a:defRPr>
            </a:pPr>
            <a:r>
              <a:t>   ✓ Physics leads perfect (r = 1.00)</a:t>
            </a:r>
          </a:p>
          <a:p>
            <a:pPr lvl="1">
              <a:spcAft>
                <a:spcPts val="500"/>
              </a:spcAft>
              <a:defRPr sz="1400">
                <a:solidFill>
                  <a:srgbClr val="4EC9B0"/>
                </a:solidFill>
              </a:defRPr>
            </a:pPr>
            <a:r>
              <a:t>   ✓ Stricter evaluation (patient-split)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Context: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Prior work uses record-wise splits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Our patient-wise split prevents leakage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True generalization performance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Overall 12-lead: r = 0.94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1. Efficient Hybrid Architecture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Physics + lightweight DL = 6x smaller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2. Rigorous Methodology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Patient-wise splits, frozen HPs, stats tests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3. Information Bottleneck Analysis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Identified fundamental reconstruction limits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4. Open Source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github.com/whiteblaze143/DATA_5000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Current Limitations: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Single dataset (PTB-XL only)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Input config (I, II, V4) not optimized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No downstream classification validation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Future Directions: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Test (I, II, V2) or (I, II, V2, V4)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External validation (Chapman, MIMIC)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Multi-label classification evaluation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Uncertainty quantification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3779" y="1463040"/>
            <a:ext cx="274320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3779" y="219456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4EC9B0"/>
                </a:solidFill>
              </a:defRPr>
            </a:pPr>
            <a:r>
              <a:t>17.1M</a:t>
            </a:r>
            <a:br/>
            <a:r>
              <a:t>(6x smaller)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779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Parameters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30758" y="1463040"/>
            <a:ext cx="274320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0758" y="219456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4EC9B0"/>
                </a:solidFill>
              </a:defRPr>
            </a:pPr>
            <a:r>
              <a:t>r = 1.00</a:t>
            </a:r>
            <a:br/>
            <a:r>
              <a:t>(guaranteed)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0758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Physics Leads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737" y="1463040"/>
            <a:ext cx="274320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3E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737" y="219456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3EBAC2"/>
                </a:solidFill>
              </a:defRPr>
            </a:pPr>
            <a:r>
              <a:t>r = 0.85</a:t>
            </a:r>
            <a:br/>
            <a:r>
              <a:t>(patient-split)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737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DL Leads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04716" y="1463040"/>
            <a:ext cx="274320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4716" y="219456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4EC9B0"/>
                </a:solidFill>
              </a:defRPr>
            </a:pPr>
            <a:r>
              <a:t>r = 0.94</a:t>
            </a:r>
            <a:br/>
            <a:r>
              <a:t>(12-lead)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4716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Overall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Code &amp;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GitHub Repository: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github.com/whiteblaze143/DATA_5000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Key Files: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run_training.py — Main entry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src/physics.py — Einthoven/Goldberger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src/models/unet_1d.py — 1D U-Net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Trained Model: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models/final_exp_baseline/best_model.pt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Report: docs/PROJECT_REPORT.pdf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Acknowledgments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Course: DATA 5000 - Data Science Capstone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Carleton University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PhysioNet for PTB-XL dataset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Google Cloud for compute resources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188720"/>
            <a:ext cx="121916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0" b="1">
                <a:solidFill>
                  <a:srgbClr val="E94D60"/>
                </a:solidFill>
              </a:defRPr>
            </a:pPr>
            <a: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21916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EBAC2"/>
                </a:solidFill>
              </a:defRPr>
            </a:pPr>
            <a:r>
              <a:t>Damilola Olaiya</a:t>
            </a:r>
          </a:p>
          <a:p>
            <a:pPr algn="ctr">
              <a:defRPr sz="1300">
                <a:solidFill>
                  <a:srgbClr val="E0E0E0"/>
                </a:solidFill>
              </a:defRPr>
            </a:pPr>
            <a:r>
              <a:t>damilolaolaiya@cmail.carleton.ca</a:t>
            </a:r>
          </a:p>
          <a:p/>
          <a:p>
            <a:pPr algn="ctr">
              <a:defRPr sz="1800">
                <a:solidFill>
                  <a:srgbClr val="3EBAC2"/>
                </a:solidFill>
              </a:defRPr>
            </a:pPr>
            <a:r>
              <a:t>Mithun Mani</a:t>
            </a:r>
          </a:p>
          <a:p>
            <a:pPr algn="ctr">
              <a:defRPr sz="1300">
                <a:solidFill>
                  <a:srgbClr val="E0E0E0"/>
                </a:solidFill>
              </a:defRPr>
            </a:pPr>
            <a:r>
              <a:t>mithunmani@cmail.carleton.ca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94D60"/>
                </a:solidFill>
              </a:defRPr>
            </a:pPr>
            <a:r>
              <a:t>github.com/whiteblaze143/DATA_5000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