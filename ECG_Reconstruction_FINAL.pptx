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Efficient 12-Lead ECG Reconstruction</a:t>
            </a:r>
            <a:br/>
            <a:r>
              <a:t>from Reduced Lead Sets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749039"/>
            <a:ext cx="3931920" cy="18288"/>
          </a:xfrm>
          <a:prstGeom prst="rect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3EBAC2"/>
                </a:solidFill>
              </a:defRPr>
            </a:pPr>
            <a:r>
              <a:t>A Physics-Informed Deep Learning 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E0E0E0"/>
                </a:solidFill>
              </a:defRPr>
            </a:pPr>
            <a:r>
              <a:t>Damilola Olaiya  •  Mithun Mani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E0E0E0"/>
                </a:solidFill>
              </a:defRPr>
            </a:pPr>
            <a:r>
              <a:t>DATA 5000  |  Carleton University  |  December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Clinical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Cardiovascular Disease: #1 cause of death globally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17.9 million deaths annually (WHO)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12-Lead ECG: Gold standard for cardiac diagnosis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Detects MI, arrhythmias, conduction abnormalities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But requires 10 electrodes + trained personnel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The Accessibility Gap: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Consumer wearables: only 1-3 leads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Remote/ambulatory settings lack equipment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Research Question: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Can we reconstruct full 12-lead from 3 leads?</a:t>
            </a:r>
          </a:p>
        </p:txBody>
      </p:sp>
      <p:pic>
        <p:nvPicPr>
          <p:cNvPr id="6" name="Picture 5" descr="problem_visu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005840"/>
            <a:ext cx="5669280" cy="224488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Clinical Significance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Early Detection Saves Lives: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MI mortality: 6% (timely) vs 30% (delayed)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Every minute matters in STEMI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Potential Applications:</a:t>
            </a:r>
          </a:p>
          <a:p>
            <a:pPr lvl="1">
              <a:spcAft>
                <a:spcPts val="500"/>
              </a:spcAft>
              <a:defRPr sz="1400">
                <a:solidFill>
                  <a:srgbClr val="4EC9B0"/>
                </a:solidFill>
              </a:defRPr>
            </a:pPr>
            <a:r>
              <a:t>   ✓ Smartwatch → 12-lead quality screening</a:t>
            </a:r>
          </a:p>
          <a:p>
            <a:pPr lvl="1">
              <a:spcAft>
                <a:spcPts val="500"/>
              </a:spcAft>
              <a:defRPr sz="1400">
                <a:solidFill>
                  <a:srgbClr val="4EC9B0"/>
                </a:solidFill>
              </a:defRPr>
            </a:pPr>
            <a:r>
              <a:t>   ✓ Home monitoring for at-risk patients</a:t>
            </a:r>
          </a:p>
          <a:p>
            <a:pPr lvl="1">
              <a:spcAft>
                <a:spcPts val="500"/>
              </a:spcAft>
              <a:defRPr sz="1400">
                <a:solidFill>
                  <a:srgbClr val="4EC9B0"/>
                </a:solidFill>
              </a:defRPr>
            </a:pPr>
            <a:r>
              <a:t>   ✓ Rural/remote area diagnosis</a:t>
            </a:r>
          </a:p>
          <a:p>
            <a:pPr lvl="1">
              <a:spcAft>
                <a:spcPts val="500"/>
              </a:spcAft>
              <a:defRPr sz="1400">
                <a:solidFill>
                  <a:srgbClr val="4EC9B0"/>
                </a:solidFill>
              </a:defRPr>
            </a:pPr>
            <a:r>
              <a:t>   ✓ Faster triage in emergency settings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Technical Constraint: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Must be lightweight for edge deployment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Cannot use 100M+ parameter models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Key Insight: Exploit Physiology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The 12 leads are NOT independent!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4EC9B0"/>
                </a:solidFill>
              </a:defRPr>
            </a:pPr>
            <a:r>
              <a:t>▸ ✓ 4 Leads are Deterministic (Physics):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III = II - I        (Einthoven's Law, 1903)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aVR = -(I + II) / 2 (Goldberger)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aVL = I - II / 2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aVF = II - I / 2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4EC9B0"/>
                </a:solidFill>
              </a:defRPr>
            </a:pPr>
            <a:r>
              <a:t>▸ ✓ Only 5 Leads Need Deep Learning: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V1, V2, V3, V5, V6 (chest leads)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Result: Reduce learning problem by 44%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Zero parameters for 4 leads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Perfect reconstruction guaranteed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Physics Module: Exact Reconstruction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914400"/>
            <a:ext cx="10332720" cy="777240"/>
          </a:xfrm>
          <a:prstGeom prst="roundRect">
            <a:avLst/>
          </a:prstGeom>
          <a:solidFill>
            <a:srgbClr val="202038"/>
          </a:solidFill>
          <a:ln w="12700">
            <a:solidFill>
              <a:srgbClr val="0F4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987552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EBAC2"/>
                </a:solidFill>
              </a:defRPr>
            </a:pPr>
            <a:r>
              <a:t>Einthoven's Law (1903)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280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Lead III = Lead II − Lead 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783080"/>
            <a:ext cx="10332720" cy="777240"/>
          </a:xfrm>
          <a:prstGeom prst="roundRect">
            <a:avLst/>
          </a:prstGeom>
          <a:solidFill>
            <a:srgbClr val="202038"/>
          </a:solidFill>
          <a:ln w="12700">
            <a:solidFill>
              <a:srgbClr val="0F4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856231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EBAC2"/>
                </a:solidFill>
              </a:defRPr>
            </a:pPr>
            <a:r>
              <a:t>Goldberger's aVR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1488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aVR = −(Lead I + Lead II) /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651760"/>
            <a:ext cx="10332720" cy="777240"/>
          </a:xfrm>
          <a:prstGeom prst="roundRect">
            <a:avLst/>
          </a:prstGeom>
          <a:solidFill>
            <a:srgbClr val="202038"/>
          </a:solidFill>
          <a:ln w="12700">
            <a:solidFill>
              <a:srgbClr val="0F4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724912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EBAC2"/>
                </a:solidFill>
              </a:defRPr>
            </a:pPr>
            <a:r>
              <a:t>Goldberger's aVL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0175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aVL = Lead I − Lead II /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520439"/>
            <a:ext cx="10332720" cy="777240"/>
          </a:xfrm>
          <a:prstGeom prst="roundRect">
            <a:avLst/>
          </a:prstGeom>
          <a:solidFill>
            <a:srgbClr val="202038"/>
          </a:solidFill>
          <a:ln w="12700">
            <a:solidFill>
              <a:srgbClr val="0F4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3593591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EBAC2"/>
                </a:solidFill>
              </a:defRPr>
            </a:pPr>
            <a:r>
              <a:t>Goldberger's aVF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8862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aVF = Lead II − Lead I /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389120"/>
            <a:ext cx="10332720" cy="777240"/>
          </a:xfrm>
          <a:prstGeom prst="roundRect">
            <a:avLst/>
          </a:prstGeom>
          <a:solidFill>
            <a:srgbClr val="202038"/>
          </a:solidFill>
          <a:ln w="12700">
            <a:solidFill>
              <a:srgbClr val="0F4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4462272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EBAC2"/>
                </a:solidFill>
              </a:defRPr>
            </a:pPr>
            <a:r>
              <a:t>Implementation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7548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Apply in denormalized space → renormalize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Hybrid Architecture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Input: 3 measured leads (I, II, V4)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Shape: [batch, 3, 5000]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Physics Module (zero cost):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Einthoven + Goldberger laws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→ 4 leads with r = 1.0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Deep Learning Module: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1D U-Net encoder-decoder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17.1M parameters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→ 5 chest leads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Output: Complete 12-lead ECG</a:t>
            </a:r>
          </a:p>
        </p:txBody>
      </p:sp>
      <p:pic>
        <p:nvPicPr>
          <p:cNvPr id="6" name="Picture 5" descr="architecture_diagram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005840"/>
            <a:ext cx="5669280" cy="23993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1D U-Net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Encoder (Downsampling Path):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Conv1D(3→64) → (64→128) → (128→256) → (256→512)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MaxPool1d(2) + Dropout(0.2) between blocks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Bottleneck: Conv1D(512→512)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Decoder (Upsampling Path):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ConvTranspose1d(2) for upsampling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Skip connections from encoder (concatenate)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Mirror encoder structure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Output Head: Conv1D(64→5)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One channel per chest lead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Why U-Net for Temporal Signals?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Skip Connections Preserve Local Features: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ECG waveforms have fine temporal structure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P-waves, QRS, T-waves need preservation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Multi-Scale Feature Learning: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Encoder: captures rhythm context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Decoder: recovers waveform detail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Computational Efficiency: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O(n) complexity vs O(n²) transformers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17.1M params vs 100M+ for SOTA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Proven in Medical Imaging: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Natural extension to 1D signals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Training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Primary Loss: Mean Squared Error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L = (1/N) Σ (y_pred - y_true)²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Why MSE?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Penalizes large errors more (quadratic)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Smooth gradients for optimization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Standard for signal regression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Alternatives Considered:</a:t>
            </a:r>
          </a:p>
          <a:p>
            <a:pPr lvl="1">
              <a:spcAft>
                <a:spcPts val="500"/>
              </a:spcAft>
              <a:defRPr sz="1400">
                <a:solidFill>
                  <a:srgbClr val="FFCC00"/>
                </a:solidFill>
              </a:defRPr>
            </a:pPr>
            <a:r>
              <a:t>   △ Pearson correlation loss (unstable gradients)</a:t>
            </a:r>
          </a:p>
          <a:p>
            <a:pPr lvl="1">
              <a:spcAft>
                <a:spcPts val="500"/>
              </a:spcAft>
              <a:defRPr sz="1400">
                <a:solidFill>
                  <a:srgbClr val="FFCC00"/>
                </a:solidFill>
              </a:defRPr>
            </a:pPr>
            <a:r>
              <a:t>   △ MSE + correlation (marginal improvement)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Final: Pure MSE — simple, stable, effective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Frozen Hyperparameters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Validated via Learning Rate Sweep: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Tested lr ∈ {1e-4, 3e-4, 1e-3}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Best: lr = 3e-4 (fastest stable convergence)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Final Configuration: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Optimizer: AdamW (weight_decay=1e-4)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Batch size: 128 | Epochs: 150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Early stopping patience: 20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Scheduler: ReduceLROnPlateau(factor=0.5)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Architecture: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Base features: 64 | Depth: 4 blocks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Dropout: 0.2 | Seed: 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Dataset: PTB-XL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PhysioNet Public Dataset: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21,837 clinical 12-lead ECG recordings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18,885 unique patients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500 Hz sampling, 10s = 5000 samples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Demographics: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52% male, mean age 62 ± 17 years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Diagnostic Distribution: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Normal: ~18%, MI: ~15%, AFIB: ~5%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Multi-label (avg 1.5 labels/record)</a:t>
            </a:r>
          </a:p>
        </p:txBody>
      </p:sp>
      <p:pic>
        <p:nvPicPr>
          <p:cNvPr id="6" name="Picture 5" descr="dataset_character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005840"/>
            <a:ext cx="5669280" cy="37604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Critical: Patient-Wise Splitting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The Data Leakage Problem: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Some patients have multiple ECGs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Record-split → same patient in train AND test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→ Artificially inflated metrics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Our Solution (Stricter than SOTA):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Split by PATIENT ID, not record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Each patient in exactly ONE split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Split Statistics: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Train: 14,363 records (70%)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Val: 1,914 (15%) | Test: 1,932 (15%)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FFCC00"/>
                </a:solidFill>
              </a:defRPr>
            </a:pPr>
            <a:r>
              <a:t>▸ ⚠ Most prior work uses record-wise splits!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Experimental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Research Questions: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Q1: Does physics module help? (Yes, r=1.0 for 4 leads)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Q2: Shared vs lead-specific decoders?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Q3: Which leads are hardest to reconstruct?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Model Variants Tested: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Baseline: Shared encoder-decoder (17.1M)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Hybrid: Shared trunk + per-lead heads (17.13M)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Lead-Specific: Separate decoders (40.8M)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Evaluation Metrics: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Pearson correlation (primary)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MAE, RMSE, SNR (secondary)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Training Convergence</a:t>
            </a:r>
          </a:p>
        </p:txBody>
      </p:sp>
      <p:pic>
        <p:nvPicPr>
          <p:cNvPr id="5" name="Picture 4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22960"/>
            <a:ext cx="10881360" cy="9067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E0E0E0"/>
                </a:solidFill>
              </a:defRPr>
            </a:pPr>
            <a:r>
              <a:t>Smooth convergence with ReduceLROnPlateau. No overfitting observed.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Overall Performance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0523" y="1463040"/>
            <a:ext cx="2743200" cy="3657600"/>
          </a:xfrm>
          <a:prstGeom prst="roundRect">
            <a:avLst/>
          </a:prstGeom>
          <a:solidFill>
            <a:srgbClr val="202038"/>
          </a:solidFill>
          <a:ln w="25400">
            <a:solidFill>
              <a:srgbClr val="4EC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0523" y="2194560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4EC9B0"/>
                </a:solidFill>
              </a:defRPr>
            </a:pPr>
            <a:r>
              <a:t>r = 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523" y="34747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E0E0E0"/>
                </a:solidFill>
              </a:defRPr>
            </a:pPr>
            <a:r>
              <a:t>Physics Leads</a:t>
            </a:r>
            <a:br/>
            <a:r>
              <a:t>(III, aVR, aVL, aVF)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24247" y="1463040"/>
            <a:ext cx="2743200" cy="3657600"/>
          </a:xfrm>
          <a:prstGeom prst="roundRect">
            <a:avLst/>
          </a:prstGeom>
          <a:solidFill>
            <a:srgbClr val="202038"/>
          </a:solidFill>
          <a:ln w="25400">
            <a:solidFill>
              <a:srgbClr val="3E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24247" y="2194560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3EBAC2"/>
                </a:solidFill>
              </a:defRPr>
            </a:pPr>
            <a:r>
              <a:t>r = 0.85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4247" y="34747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E0E0E0"/>
                </a:solidFill>
              </a:defRPr>
            </a:pPr>
            <a:r>
              <a:t>DL Leads</a:t>
            </a:r>
            <a:br/>
            <a:r>
              <a:t>(V1-V3, V5-V6)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7971" y="1463040"/>
            <a:ext cx="2743200" cy="3657600"/>
          </a:xfrm>
          <a:prstGeom prst="roundRect">
            <a:avLst/>
          </a:prstGeom>
          <a:solidFill>
            <a:srgbClr val="202038"/>
          </a:solidFill>
          <a:ln w="25400">
            <a:solidFill>
              <a:srgbClr val="4EC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7971" y="2194560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4EC9B0"/>
                </a:solidFill>
              </a:defRPr>
            </a:pPr>
            <a:r>
              <a:t>r = 0.94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7971" y="34747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E0E0E0"/>
                </a:solidFill>
              </a:defRPr>
            </a:pPr>
            <a:r>
              <a:t>Overall</a:t>
            </a:r>
            <a:br/>
            <a:r>
              <a:t>12-Lead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Per-Lead Reconstruction Results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66647" y="1005840"/>
          <a:ext cx="100584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Lead</a:t>
                      </a:r>
                    </a:p>
                  </a:txBody>
                  <a:tcPr anchor="ctr">
                    <a:solidFill>
                      <a:srgbClr val="E94D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Correlation</a:t>
                      </a:r>
                    </a:p>
                  </a:txBody>
                  <a:tcPr anchor="ctr">
                    <a:solidFill>
                      <a:srgbClr val="E94D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MAE</a:t>
                      </a:r>
                    </a:p>
                  </a:txBody>
                  <a:tcPr anchor="ctr">
                    <a:solidFill>
                      <a:srgbClr val="E94D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SNR (dB)</a:t>
                      </a:r>
                    </a:p>
                  </a:txBody>
                  <a:tcPr anchor="ctr">
                    <a:solidFill>
                      <a:srgbClr val="E94D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Position</a:t>
                      </a:r>
                    </a:p>
                  </a:txBody>
                  <a:tcPr anchor="ctr">
                    <a:solidFill>
                      <a:srgbClr val="E94D6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V1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0.818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0.030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19.5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Right sternal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V2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0.826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0.030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19.3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Left sternal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V3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0.860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0.027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20.0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Transition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V5</a:t>
                      </a:r>
                    </a:p>
                  </a:txBody>
                  <a:tcPr anchor="ctr">
                    <a:solidFill>
                      <a:srgbClr val="1A4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0.891</a:t>
                      </a:r>
                    </a:p>
                  </a:txBody>
                  <a:tcPr anchor="ctr">
                    <a:solidFill>
                      <a:srgbClr val="1A4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0.026</a:t>
                      </a:r>
                    </a:p>
                  </a:txBody>
                  <a:tcPr anchor="ctr">
                    <a:solidFill>
                      <a:srgbClr val="1A4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20.3</a:t>
                      </a:r>
                    </a:p>
                  </a:txBody>
                  <a:tcPr anchor="ctr">
                    <a:solidFill>
                      <a:srgbClr val="1A4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Ant. axillary</a:t>
                      </a:r>
                    </a:p>
                  </a:txBody>
                  <a:tcPr anchor="ctr">
                    <a:solidFill>
                      <a:srgbClr val="1A4A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V6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0.836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0.033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18.3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Midaxillary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Mean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0.846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0.029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19.5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Reconstruction Example 1</a:t>
            </a:r>
          </a:p>
        </p:txBody>
      </p:sp>
      <p:pic>
        <p:nvPicPr>
          <p:cNvPr id="5" name="Picture 4" descr="reconstruction_samp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22960"/>
            <a:ext cx="10881360" cy="87050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E0E0E0"/>
                </a:solidFill>
              </a:defRPr>
            </a:pPr>
            <a:r>
              <a:t>Ground truth (blue) vs Reconstructed (orange). Physics leads exact, DL leads high fidelity.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Reconstruction Example 2</a:t>
            </a:r>
          </a:p>
        </p:txBody>
      </p:sp>
      <p:pic>
        <p:nvPicPr>
          <p:cNvPr id="5" name="Picture 4" descr="reconstruction_sampl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22960"/>
            <a:ext cx="10881360" cy="87050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E0E0E0"/>
                </a:solidFill>
              </a:defRPr>
            </a:pPr>
            <a:r>
              <a:t>Consistent across different patient morphologies and cardiac conditions.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Ablation: Shared vs Lead-Specific Decoder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447" y="1005840"/>
          <a:ext cx="10972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E94D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Params</a:t>
                      </a:r>
                    </a:p>
                  </a:txBody>
                  <a:tcPr anchor="ctr">
                    <a:solidFill>
                      <a:srgbClr val="E94D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V1</a:t>
                      </a:r>
                    </a:p>
                  </a:txBody>
                  <a:tcPr anchor="ctr">
                    <a:solidFill>
                      <a:srgbClr val="E94D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V2</a:t>
                      </a:r>
                    </a:p>
                  </a:txBody>
                  <a:tcPr anchor="ctr">
                    <a:solidFill>
                      <a:srgbClr val="E94D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V3</a:t>
                      </a:r>
                    </a:p>
                  </a:txBody>
                  <a:tcPr anchor="ctr">
                    <a:solidFill>
                      <a:srgbClr val="E94D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V5</a:t>
                      </a:r>
                    </a:p>
                  </a:txBody>
                  <a:tcPr anchor="ctr">
                    <a:solidFill>
                      <a:srgbClr val="E94D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V6</a:t>
                      </a:r>
                    </a:p>
                  </a:txBody>
                  <a:tcPr anchor="ctr">
                    <a:solidFill>
                      <a:srgbClr val="E94D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Mean</a:t>
                      </a:r>
                    </a:p>
                  </a:txBody>
                  <a:tcPr anchor="ctr">
                    <a:solidFill>
                      <a:srgbClr val="E94D6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Shared (Ours)</a:t>
                      </a:r>
                    </a:p>
                  </a:txBody>
                  <a:tcPr anchor="ctr">
                    <a:solidFill>
                      <a:srgbClr val="1A4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17.1M</a:t>
                      </a:r>
                    </a:p>
                  </a:txBody>
                  <a:tcPr anchor="ctr">
                    <a:solidFill>
                      <a:srgbClr val="1A4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0.726</a:t>
                      </a:r>
                    </a:p>
                  </a:txBody>
                  <a:tcPr anchor="ctr">
                    <a:solidFill>
                      <a:srgbClr val="1A4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0.683</a:t>
                      </a:r>
                    </a:p>
                  </a:txBody>
                  <a:tcPr anchor="ctr">
                    <a:solidFill>
                      <a:srgbClr val="1A4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0.765</a:t>
                      </a:r>
                    </a:p>
                  </a:txBody>
                  <a:tcPr anchor="ctr">
                    <a:solidFill>
                      <a:srgbClr val="1A4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0.824</a:t>
                      </a:r>
                    </a:p>
                  </a:txBody>
                  <a:tcPr anchor="ctr">
                    <a:solidFill>
                      <a:srgbClr val="1A4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0.723</a:t>
                      </a:r>
                    </a:p>
                  </a:txBody>
                  <a:tcPr anchor="ctr">
                    <a:solidFill>
                      <a:srgbClr val="1A4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0.744</a:t>
                      </a:r>
                    </a:p>
                  </a:txBody>
                  <a:tcPr anchor="ctr">
                    <a:solidFill>
                      <a:srgbClr val="1A4A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Lead-Specific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40.8M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0.708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0.636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0.728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0.726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0.736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0.707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+.018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+.047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+.037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+.098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-.013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+.037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Counter-Intuitive: Simpler Model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Lead-Specific (40.8M) LOST to Shared (17.1M)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Statistical Evidence: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Cohen's d = 0.92 (large effect size)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Paired t-test p &lt; 0.001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Bootstrap 95% CI: [0.006, 0.072]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Per-Lead Breakdown: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Shared wins: V1, V2, V3, V5 (4/5 leads)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Lead-Specific wins: V6 only (marginal)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Interpretation: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Limited input (3 leads) → shared regularizes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More parameters → overfitting, not capacity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Information Bottleneck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Best Lead: V5 (r = 0.891)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Ground truth V4 ↔ V5 correlation = 0.79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Anatomically adjacent positions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Hardest Lead: V2 (r = 0.826)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Ground truth V4 ↔ V2 correlation = 0.36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V2 = right ventricle, V4 = left ventricle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Key Insight: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Reconstruction bounded by input information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This is FUNDAMENTAL limit, not model failure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FFCC00"/>
                </a:solidFill>
              </a:defRPr>
            </a:pPr>
            <a:r>
              <a:t>▸ △ Implication: Input lead selection matters!</a:t>
            </a:r>
          </a:p>
        </p:txBody>
      </p:sp>
      <p:pic>
        <p:nvPicPr>
          <p:cNvPr id="6" name="Picture 5" descr="lead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005840"/>
            <a:ext cx="5669280" cy="484618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Comparison with State-of-the-Art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66647" y="1005840"/>
          <a:ext cx="10058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E94D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Year</a:t>
                      </a:r>
                    </a:p>
                  </a:txBody>
                  <a:tcPr anchor="ctr">
                    <a:solidFill>
                      <a:srgbClr val="E94D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DL r</a:t>
                      </a:r>
                    </a:p>
                  </a:txBody>
                  <a:tcPr anchor="ctr">
                    <a:solidFill>
                      <a:srgbClr val="E94D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Params</a:t>
                      </a:r>
                    </a:p>
                  </a:txBody>
                  <a:tcPr anchor="ctr">
                    <a:solidFill>
                      <a:srgbClr val="E94D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Split</a:t>
                      </a:r>
                    </a:p>
                  </a:txBody>
                  <a:tcPr anchor="ctr">
                    <a:solidFill>
                      <a:srgbClr val="E94D6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Linear (Frank)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1970s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0.70-0.75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~0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CNN (Sohn)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2020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~0.85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30M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Record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LSTM (Lee)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2021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~0.88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60M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Record</a:t>
                      </a:r>
                    </a:p>
                  </a:txBody>
                  <a:tcPr anchor="ctr">
                    <a:solidFill>
                      <a:srgbClr val="2222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Transformer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2023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~0.90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100M+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Record</a:t>
                      </a:r>
                    </a:p>
                  </a:txBody>
                  <a:tcPr anchor="ctr">
                    <a:solidFill>
                      <a:srgbClr val="1C1C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Ours</a:t>
                      </a:r>
                    </a:p>
                  </a:txBody>
                  <a:tcPr anchor="ctr">
                    <a:solidFill>
                      <a:srgbClr val="1A4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2025</a:t>
                      </a:r>
                    </a:p>
                  </a:txBody>
                  <a:tcPr anchor="ctr">
                    <a:solidFill>
                      <a:srgbClr val="1A4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0.85</a:t>
                      </a:r>
                    </a:p>
                  </a:txBody>
                  <a:tcPr anchor="ctr">
                    <a:solidFill>
                      <a:srgbClr val="1A4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17.1M</a:t>
                      </a:r>
                    </a:p>
                  </a:txBody>
                  <a:tcPr anchor="ctr">
                    <a:solidFill>
                      <a:srgbClr val="1A4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0E0E0"/>
                          </a:solidFill>
                        </a:defRPr>
                      </a:pPr>
                      <a:r>
                        <a:t>Patient</a:t>
                      </a:r>
                    </a:p>
                  </a:txBody>
                  <a:tcPr anchor="ctr">
                    <a:solidFill>
                      <a:srgbClr val="1A4A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Challenges Encountered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1. Physics Integration Bug: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Initially applied in normalized space → wrong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Fix: Denormalize → physics → renormalize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2. Data Leakage Discovery: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Early runs: r &gt; 0.95 (too good!)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Cause: record-wise split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Fix: patient-wise splitting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3. Hyperparameter Sensitivity: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LR sweep: 3e-4 optimal (not 1e-3)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4. V2 Underperformance: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Inherent to input config, not model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Single Dataset: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PTB-XL only, external validation needed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Input Configuration: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(I, II, V4) not optimized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V4 has low correlation with V1/V2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No Downstream Validation: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Signal metrics only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Classification accuracy not tested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No Uncertainty Quantification: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Point estimates only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Clinical needs confidence bounds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Future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Input Lead Optimization: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Test (I, II, V2), (I, II, V2+V4)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External Validation: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Chapman-Shaoxing, MIMIC-IV-ECG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Downstream Evaluation: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Multi-label classification accuracy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Uncertainty Quantification: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MC Dropout / Ensemble methods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Foundation Model Integration: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Pretrained ECG representations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Key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1. Efficient Hybrid Architecture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Physics (4 leads, r=1.0) + U-Net (5 leads)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17.1M params (6× smaller than SOTA)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2. Rigorous Methodology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Patient-wise splits (no leakage)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Frozen HPs, statistical tests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3. Ablation Studies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Shared &gt; Lead-Specific (Cohen's d=0.92)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Information bottleneck analysis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4. Open Source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github.com/whiteblaze143/DATA_5000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3779" y="1463040"/>
            <a:ext cx="2743200" cy="3657600"/>
          </a:xfrm>
          <a:prstGeom prst="roundRect">
            <a:avLst/>
          </a:prstGeom>
          <a:solidFill>
            <a:srgbClr val="202038"/>
          </a:solidFill>
          <a:ln w="25400">
            <a:solidFill>
              <a:srgbClr val="4EC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3779" y="2194560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4EC9B0"/>
                </a:solidFill>
              </a:defRPr>
            </a:pPr>
            <a:r>
              <a:t>17.1M</a:t>
            </a:r>
            <a:br/>
            <a:r>
              <a:t>(6× smaller)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779" y="34747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E0E0E0"/>
                </a:solidFill>
              </a:defRPr>
            </a:pPr>
            <a:r>
              <a:t>Parameters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30758" y="1463040"/>
            <a:ext cx="2743200" cy="3657600"/>
          </a:xfrm>
          <a:prstGeom prst="roundRect">
            <a:avLst/>
          </a:prstGeom>
          <a:solidFill>
            <a:srgbClr val="202038"/>
          </a:solidFill>
          <a:ln w="25400">
            <a:solidFill>
              <a:srgbClr val="4EC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30758" y="2194560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4EC9B0"/>
                </a:solidFill>
              </a:defRPr>
            </a:pPr>
            <a:r>
              <a:t>r = 1.00</a:t>
            </a:r>
            <a:br/>
            <a:r>
              <a:t>(exact)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0758" y="34747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E0E0E0"/>
                </a:solidFill>
              </a:defRPr>
            </a:pPr>
            <a:r>
              <a:t>Physics Leads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737" y="1463040"/>
            <a:ext cx="2743200" cy="3657600"/>
          </a:xfrm>
          <a:prstGeom prst="roundRect">
            <a:avLst/>
          </a:prstGeom>
          <a:solidFill>
            <a:srgbClr val="202038"/>
          </a:solidFill>
          <a:ln w="25400">
            <a:solidFill>
              <a:srgbClr val="3E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737" y="2194560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3EBAC2"/>
                </a:solidFill>
              </a:defRPr>
            </a:pPr>
            <a:r>
              <a:t>r = 0.85</a:t>
            </a:r>
            <a:br/>
            <a:r>
              <a:t>(patient-split)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737" y="34747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E0E0E0"/>
                </a:solidFill>
              </a:defRPr>
            </a:pPr>
            <a:r>
              <a:t>DL Leads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04716" y="1463040"/>
            <a:ext cx="2743200" cy="3657600"/>
          </a:xfrm>
          <a:prstGeom prst="roundRect">
            <a:avLst/>
          </a:prstGeom>
          <a:solidFill>
            <a:srgbClr val="202038"/>
          </a:solidFill>
          <a:ln w="25400">
            <a:solidFill>
              <a:srgbClr val="4EC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04716" y="2194560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4EC9B0"/>
                </a:solidFill>
              </a:defRPr>
            </a:pPr>
            <a:r>
              <a:t>r = 0.94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04716" y="34747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E0E0E0"/>
                </a:solidFill>
              </a:defRPr>
            </a:pPr>
            <a:r>
              <a:t>Overall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Code &amp;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GitHub Repository: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github.com/whiteblaze143/DATA_5000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Key Files: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run_training.py — Main entry point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src/physics.py — Einthoven/Goldberger laws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src/models/unet_1d.py — 1D U-Net architecture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scripts/train_variants.py — Training script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scripts/compare_variants.py — Statistical comparison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   </a:t>
            </a:r>
          </a:p>
          <a:p>
            <a:pPr>
              <a:spcAft>
                <a:spcPts val="500"/>
              </a:spcAft>
              <a:defRPr sz="1600">
                <a:solidFill>
                  <a:srgbClr val="E0E0E0"/>
                </a:solidFill>
              </a:defRPr>
            </a:pPr>
            <a:r>
              <a:t>▸ Trained Model:</a:t>
            </a:r>
          </a:p>
          <a:p>
            <a:pPr lvl="1">
              <a:spcAft>
                <a:spcPts val="500"/>
              </a:spcAft>
              <a:defRPr sz="1400">
                <a:solidFill>
                  <a:srgbClr val="E0E0E0"/>
                </a:solidFill>
              </a:defRPr>
            </a:pPr>
            <a:r>
              <a:t>   models/final_exp_baseline/best_model.pt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188720"/>
            <a:ext cx="12191695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0" b="1">
                <a:solidFill>
                  <a:srgbClr val="E94D60"/>
                </a:solidFill>
              </a:defRPr>
            </a:pPr>
            <a: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11480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E9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645920"/>
            <a:ext cx="121916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00400"/>
            <a:ext cx="121916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EBAC2"/>
                </a:solidFill>
              </a:defRPr>
            </a:pPr>
            <a:r>
              <a:t>Damilola Olaiya</a:t>
            </a:r>
          </a:p>
          <a:p>
            <a:pPr algn="ctr">
              <a:defRPr sz="1300">
                <a:solidFill>
                  <a:srgbClr val="E0E0E0"/>
                </a:solidFill>
              </a:defRPr>
            </a:pPr>
            <a:r>
              <a:t>damilolaolaiya@cmail.carleton.ca</a:t>
            </a:r>
          </a:p>
          <a:p/>
          <a:p>
            <a:pPr algn="ctr">
              <a:defRPr sz="1800">
                <a:solidFill>
                  <a:srgbClr val="3EBAC2"/>
                </a:solidFill>
              </a:defRPr>
            </a:pPr>
            <a:r>
              <a:t>Mithun Mani</a:t>
            </a:r>
          </a:p>
          <a:p>
            <a:pPr algn="ctr">
              <a:defRPr sz="1300">
                <a:solidFill>
                  <a:srgbClr val="E0E0E0"/>
                </a:solidFill>
              </a:defRPr>
            </a:pPr>
            <a:r>
              <a:t>mithunmani@cmail.carleton.ca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E94D60"/>
                </a:solidFill>
              </a:defRPr>
            </a:pPr>
            <a:r>
              <a:t>github.com/whiteblaze143/DATA_5000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