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Efficient 12-Lead ECG Reconstruction</a:t>
            </a:r>
            <a:br/>
            <a:r>
              <a:t>from Reduced Lead Sets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749039"/>
            <a:ext cx="3931920" cy="18288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3EBAC2"/>
                </a:solidFill>
              </a:defRPr>
            </a:pPr>
            <a:r>
              <a:t>A Computationally Lightweight Physics-Informed 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9377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E0E0E0"/>
                </a:solidFill>
              </a:defRPr>
            </a:pPr>
            <a:r>
              <a:t>Damilola Olaiya  •  Mithun Mani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5778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E0E0E0"/>
                </a:solidFill>
              </a:defRPr>
            </a:pPr>
            <a:r>
              <a:t>DATA 5000  |  Carleton University  |  December 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Clinical Need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Cardiovascular Disease: #1 cause of death globally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17.9 million deaths annually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12-Lead ECG: Gold standard diagnosis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But requires 10 electrodes + trained personnel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The Gap: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Consumer wearables: only 1-3 leads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Full diagnosis needs all 12 leads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Our Goal: Reconstruct 12 leads from 3</a:t>
            </a:r>
          </a:p>
        </p:txBody>
      </p:sp>
      <p:pic>
        <p:nvPicPr>
          <p:cNvPr id="6" name="Picture 5" descr="problem_visua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005840"/>
            <a:ext cx="5669280" cy="224488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Insight: Physics Reduces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The 12 leads are NOT independent!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4EC9B0"/>
                </a:solidFill>
              </a:defRPr>
            </a:pPr>
            <a:r>
              <a:t>▸ ✓ 4 Leads are EXACT (Physics):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III = II - I     (Einthoven 1903)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aVR, aVL, aVF    (Goldberger)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4EC9B0"/>
                </a:solidFill>
              </a:defRPr>
            </a:pPr>
            <a:r>
              <a:t>▸ ✓ Only 5 Leads Need Deep Learning: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V1, V2, V3, V5, V6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Result: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Zero parameters for 4 leads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Perfect reconstruction guaranteed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6x fewer params than SOTA</a:t>
            </a:r>
          </a:p>
        </p:txBody>
      </p:sp>
      <p:pic>
        <p:nvPicPr>
          <p:cNvPr id="6" name="Picture 5" descr="approach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005840"/>
            <a:ext cx="5669280" cy="37934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Hybrid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Input: 3 leads (I, II, V4)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Physics Module: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Einthoven + Goldberger laws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→ 4 leads, r = 1.0, zero cost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Deep Learning Module: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1D U-Net (encoder-decoder)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17.1M parameters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→ 5 chest leads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Total: Complete 12-lead ECG</a:t>
            </a:r>
          </a:p>
        </p:txBody>
      </p:sp>
      <p:pic>
        <p:nvPicPr>
          <p:cNvPr id="6" name="Picture 5" descr="architecture_diagram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005840"/>
            <a:ext cx="5669280" cy="23993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Rigorous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Frozen Hyperparameters (LR-validated):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lr = 3×10⁻⁴, batch = 128, epochs = 150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AdamW + ReduceLROnPlateau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Patient-Wise Data Splits: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No data leakage between train/test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Stricter than most prior work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Statistical Framework: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Paired t-test, Cohen's d effect size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Bootstrap 95% CI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Dataset: PTB-XL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21,837 clinical 12-lead ECGs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18,885 unique patients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500 Hz, 10 seconds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Train: 14,363 | Val: 1,914 | Test: 1,932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Preprocessing: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Z-score normalization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Patient-wise stratified splits</a:t>
            </a:r>
          </a:p>
        </p:txBody>
      </p:sp>
      <p:pic>
        <p:nvPicPr>
          <p:cNvPr id="6" name="Picture 5" descr="dataset_characteris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005840"/>
            <a:ext cx="5669280" cy="376049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Training Convergence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7432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CC00"/>
                </a:solidFill>
              </a:defRPr>
            </a:pPr>
            <a:r>
              <a:t>[Figure: training_curves_final.png]</a:t>
            </a:r>
            <a:br/>
            <a:r>
              <a:t>Generate after training completes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E0E0E0"/>
                </a:solidFill>
              </a:defRPr>
            </a:pPr>
            <a:r>
              <a:t>Smooth convergence with ReduceLROnPlateau scheduler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Overall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0523" y="1463040"/>
            <a:ext cx="2743200" cy="3657600"/>
          </a:xfrm>
          <a:prstGeom prst="roundRect">
            <a:avLst/>
          </a:prstGeom>
          <a:solidFill>
            <a:srgbClr val="202038"/>
          </a:solidFill>
          <a:ln w="2540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0523" y="219456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4EC9B0"/>
                </a:solidFill>
              </a:defRPr>
            </a:pPr>
            <a:r>
              <a:t>r = 1.0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23" y="347472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E0E0E0"/>
                </a:solidFill>
              </a:defRPr>
            </a:pPr>
            <a:r>
              <a:t>Physics Leads</a:t>
            </a:r>
            <a:br/>
            <a:r>
              <a:t>(III, aVR, aVL, aVF)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24247" y="1463040"/>
            <a:ext cx="2743200" cy="3657600"/>
          </a:xfrm>
          <a:prstGeom prst="roundRect">
            <a:avLst/>
          </a:prstGeom>
          <a:solidFill>
            <a:srgbClr val="202038"/>
          </a:solidFill>
          <a:ln w="25400">
            <a:solidFill>
              <a:srgbClr val="3EBA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24247" y="219456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3EBAC2"/>
                </a:solidFill>
              </a:defRPr>
            </a:pPr>
            <a:r>
              <a:t>r = 0.82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4247" y="347472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E0E0E0"/>
                </a:solidFill>
              </a:defRPr>
            </a:pPr>
            <a:r>
              <a:t>DL Leads</a:t>
            </a:r>
            <a:br/>
            <a:r>
              <a:t>(V1-V3, V5-V6)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7971" y="1463040"/>
            <a:ext cx="2743200" cy="3657600"/>
          </a:xfrm>
          <a:prstGeom prst="roundRect">
            <a:avLst/>
          </a:prstGeom>
          <a:solidFill>
            <a:srgbClr val="202038"/>
          </a:solidFill>
          <a:ln w="2540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7971" y="219456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4EC9B0"/>
                </a:solidFill>
              </a:defRPr>
            </a:pPr>
            <a:r>
              <a:t>r = 0.93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7971" y="347472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E0E0E0"/>
                </a:solidFill>
              </a:defRPr>
            </a:pPr>
            <a:r>
              <a:t>Overall</a:t>
            </a:r>
            <a:br/>
            <a:r>
              <a:t>12-Lead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Per-Lead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7432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CC00"/>
                </a:solidFill>
              </a:defRPr>
            </a:pPr>
            <a:r>
              <a:t>[Figure: per_lead_barplot.png]</a:t>
            </a:r>
            <a:br/>
            <a:r>
              <a:t>Generate after training completes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E0E0E0"/>
                </a:solidFill>
              </a:defRPr>
            </a:pPr>
            <a:r>
              <a:t>Physics leads perfect, DL leads V5 best (closest to V4), V2 hardest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Sample ECG Reconstructions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7432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CC00"/>
                </a:solidFill>
              </a:defRPr>
            </a:pPr>
            <a:r>
              <a:t>[Figure: reconstruction_samples.png]</a:t>
            </a:r>
            <a:br/>
            <a:r>
              <a:t>Generate after training completes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E0E0E0"/>
                </a:solidFill>
              </a:defRPr>
            </a:pPr>
            <a:r>
              <a:t>Visual comparison: Ground truth (blue) vs Reconstructed (red)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Ablation: Shared vs Lead-Specific Decoder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Surprising Result: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Shared (17.1M) BEATS Lead-Specific (40.8M)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Statistical Evidence: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Cohen's d = 0.92 (large effect)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Bootstrap 95% CI: [0.006, 0.072]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→ Excludes zero = significant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Interpretation: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Limited input (3 leads) = limited information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More params → overfitting, not capacity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Parameter sharing = beneficial regularization</a:t>
            </a:r>
          </a:p>
        </p:txBody>
      </p:sp>
      <p:pic>
        <p:nvPicPr>
          <p:cNvPr id="6" name="Picture 5" descr="model_comparison_detai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005840"/>
            <a:ext cx="5669280" cy="202474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Why V2 is Hardest: Information Bottleneck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Ground truth correlation V4 ↔ V2 = 0.36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Fundamental limit, not model failure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Best performance on V5 (r ≈ 0.87):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V4 ↔ V5 correlation = 0.79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Worst performance on V2 (r ≈ 0.72):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V2 anatomically distant from V4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Implication: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Input lead selection matters more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than model architecture</a:t>
            </a:r>
          </a:p>
        </p:txBody>
      </p:sp>
      <p:pic>
        <p:nvPicPr>
          <p:cNvPr id="6" name="Picture 5" descr="lead_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005840"/>
            <a:ext cx="5669280" cy="48461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Comparison with State-of-the-Art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295247" y="1005840"/>
          <a:ext cx="96012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  <a:gridCol w="1920240"/>
                <a:gridCol w="192024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 anchor="ctr">
                    <a:solidFill>
                      <a:srgbClr val="E94D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Year</a:t>
                      </a:r>
                    </a:p>
                  </a:txBody>
                  <a:tcPr anchor="ctr">
                    <a:solidFill>
                      <a:srgbClr val="E94D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DL Leads r</a:t>
                      </a:r>
                    </a:p>
                  </a:txBody>
                  <a:tcPr anchor="ctr">
                    <a:solidFill>
                      <a:srgbClr val="E94D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Params</a:t>
                      </a:r>
                    </a:p>
                  </a:txBody>
                  <a:tcPr anchor="ctr">
                    <a:solidFill>
                      <a:srgbClr val="E94D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Split</a:t>
                      </a:r>
                    </a:p>
                  </a:txBody>
                  <a:tcPr anchor="ctr">
                    <a:solidFill>
                      <a:srgbClr val="E94D6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Linear (Frank)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1970s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0.70-0.75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~0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CNN (Sohn)</a:t>
                      </a:r>
                    </a:p>
                  </a:txBody>
                  <a:tcPr anchor="ctr"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2020</a:t>
                      </a:r>
                    </a:p>
                  </a:txBody>
                  <a:tcPr anchor="ctr"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~0.85</a:t>
                      </a:r>
                    </a:p>
                  </a:txBody>
                  <a:tcPr anchor="ctr"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~30M</a:t>
                      </a:r>
                    </a:p>
                  </a:txBody>
                  <a:tcPr anchor="ctr"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Record</a:t>
                      </a:r>
                    </a:p>
                  </a:txBody>
                  <a:tcPr anchor="ctr">
                    <a:solidFill>
                      <a:srgbClr val="1C1C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LSTM (Lee)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2021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~0.88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~60M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Record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Transformer</a:t>
                      </a:r>
                    </a:p>
                  </a:txBody>
                  <a:tcPr anchor="ctr"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2023</a:t>
                      </a:r>
                    </a:p>
                  </a:txBody>
                  <a:tcPr anchor="ctr"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~0.90</a:t>
                      </a:r>
                    </a:p>
                  </a:txBody>
                  <a:tcPr anchor="ctr"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100M+</a:t>
                      </a:r>
                    </a:p>
                  </a:txBody>
                  <a:tcPr anchor="ctr"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Record</a:t>
                      </a:r>
                    </a:p>
                  </a:txBody>
                  <a:tcPr anchor="ctr">
                    <a:solidFill>
                      <a:srgbClr val="1C1C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Ours</a:t>
                      </a:r>
                    </a:p>
                  </a:txBody>
                  <a:tcPr anchor="ctr">
                    <a:solidFill>
                      <a:srgbClr val="1A4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1A4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~0.82</a:t>
                      </a:r>
                    </a:p>
                  </a:txBody>
                  <a:tcPr anchor="ctr">
                    <a:solidFill>
                      <a:srgbClr val="1A4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17.1M</a:t>
                      </a:r>
                    </a:p>
                  </a:txBody>
                  <a:tcPr anchor="ctr">
                    <a:solidFill>
                      <a:srgbClr val="1A4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Patient</a:t>
                      </a:r>
                    </a:p>
                  </a:txBody>
                  <a:tcPr anchor="ctr">
                    <a:solidFill>
                      <a:srgbClr val="1A4A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Honest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Our Advantages:</a:t>
            </a:r>
          </a:p>
          <a:p>
            <a:pPr lvl="1">
              <a:spcAft>
                <a:spcPts val="500"/>
              </a:spcAft>
              <a:defRPr sz="1400">
                <a:solidFill>
                  <a:srgbClr val="4EC9B0"/>
                </a:solidFill>
              </a:defRPr>
            </a:pPr>
            <a:r>
              <a:t>   ✓ 6x fewer parameters (17M vs 100M)</a:t>
            </a:r>
          </a:p>
          <a:p>
            <a:pPr lvl="1">
              <a:spcAft>
                <a:spcPts val="500"/>
              </a:spcAft>
              <a:defRPr sz="1400">
                <a:solidFill>
                  <a:srgbClr val="4EC9B0"/>
                </a:solidFill>
              </a:defRPr>
            </a:pPr>
            <a:r>
              <a:t>   ✓ Physics leads perfect (r = 1.0)</a:t>
            </a:r>
          </a:p>
          <a:p>
            <a:pPr lvl="1">
              <a:spcAft>
                <a:spcPts val="500"/>
              </a:spcAft>
              <a:defRPr sz="1400">
                <a:solidFill>
                  <a:srgbClr val="4EC9B0"/>
                </a:solidFill>
              </a:defRPr>
            </a:pPr>
            <a:r>
              <a:t>   ✓ Stricter evaluation (patient-split)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Our Limitations:</a:t>
            </a:r>
          </a:p>
          <a:p>
            <a:pPr lvl="1">
              <a:spcAft>
                <a:spcPts val="500"/>
              </a:spcAft>
              <a:defRPr sz="1400">
                <a:solidFill>
                  <a:srgbClr val="FFCC00"/>
                </a:solidFill>
              </a:defRPr>
            </a:pPr>
            <a:r>
              <a:t>   △ DL leads slightly below SOTA</a:t>
            </a:r>
          </a:p>
          <a:p>
            <a:pPr lvl="1">
              <a:spcAft>
                <a:spcPts val="500"/>
              </a:spcAft>
              <a:defRPr sz="1400">
                <a:solidFill>
                  <a:srgbClr val="FFCC00"/>
                </a:solidFill>
              </a:defRPr>
            </a:pPr>
            <a:r>
              <a:t>   △ Single dataset (PTB-XL only)</a:t>
            </a:r>
          </a:p>
          <a:p>
            <a:pPr lvl="1">
              <a:spcAft>
                <a:spcPts val="500"/>
              </a:spcAft>
              <a:defRPr sz="1400">
                <a:solidFill>
                  <a:srgbClr val="FFCC00"/>
                </a:solidFill>
              </a:defRPr>
            </a:pPr>
            <a:r>
              <a:t>   △ Input config (I, II, V4) not optimized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Key Insight: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Gap may be due to stricter evaluation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Contributions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1. Efficient Hybrid Architecture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Physics + lightweight DL = 6x smaller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2. Rigorous Methodology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Patient-wise splits, frozen HPs, stats tests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3. Information Bottleneck Analysis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Identified fundamental reconstruction limits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4. Open Source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github.com/whiteblaze143/DATA_5000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Limitations &amp;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Current Limitations: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Single dataset (PTB-XL)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Input config not optimized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No downstream task validation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Future Directions: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Test (I, II, V2) or (I, II, V2, V4)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External validation (Chapman, MIMIC)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Multi-label classification on reconstructed ECGs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Uncertainty quantification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0523" y="1463040"/>
            <a:ext cx="2743200" cy="3657600"/>
          </a:xfrm>
          <a:prstGeom prst="roundRect">
            <a:avLst/>
          </a:prstGeom>
          <a:solidFill>
            <a:srgbClr val="202038"/>
          </a:solidFill>
          <a:ln w="2540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0523" y="219456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4EC9B0"/>
                </a:solidFill>
              </a:defRPr>
            </a:pPr>
            <a:r>
              <a:t>17.1M</a:t>
            </a:r>
            <a:br/>
            <a:r>
              <a:t>(6x smaller)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23" y="347472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E0E0E0"/>
                </a:solidFill>
              </a:defRPr>
            </a:pPr>
            <a:r>
              <a:t>Parameters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24247" y="1463040"/>
            <a:ext cx="2743200" cy="3657600"/>
          </a:xfrm>
          <a:prstGeom prst="roundRect">
            <a:avLst/>
          </a:prstGeom>
          <a:solidFill>
            <a:srgbClr val="202038"/>
          </a:solidFill>
          <a:ln w="2540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24247" y="219456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4EC9B0"/>
                </a:solidFill>
              </a:defRPr>
            </a:pPr>
            <a:r>
              <a:t>r = 1.0</a:t>
            </a:r>
            <a:br/>
            <a:r>
              <a:t>(guaranteed)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4247" y="347472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E0E0E0"/>
                </a:solidFill>
              </a:defRPr>
            </a:pPr>
            <a:r>
              <a:t>Physics Leads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7971" y="1463040"/>
            <a:ext cx="2743200" cy="3657600"/>
          </a:xfrm>
          <a:prstGeom prst="roundRect">
            <a:avLst/>
          </a:prstGeom>
          <a:solidFill>
            <a:srgbClr val="202038"/>
          </a:solidFill>
          <a:ln w="25400">
            <a:solidFill>
              <a:srgbClr val="3EBA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7971" y="219456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3EBAC2"/>
                </a:solidFill>
              </a:defRPr>
            </a:pPr>
            <a:r>
              <a:t>r ≈ 0.82</a:t>
            </a:r>
            <a:br/>
            <a:r>
              <a:t>(patient-split)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7971" y="347472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E0E0E0"/>
                </a:solidFill>
              </a:defRPr>
            </a:pPr>
            <a:r>
              <a:t>DL Leads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Code &amp;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GitHub Repository: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github.com/whiteblaze143/DATA_5000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Key Files: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run_training.py — Main entry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src/physics.py — Einthoven/Goldberger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src/models/unet_1d.py — 1D U-Net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Trained Models &amp; Report: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models/final_exp_baseline/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docs/PROJECT_REPORT.pdf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Acknowledgments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Course: DATA 5000 - Data Science Capstone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Carleton University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PhysioNet for PTB-XL dataset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Google Cloud for compute resources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188720"/>
            <a:ext cx="12191695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0" b="1">
                <a:solidFill>
                  <a:srgbClr val="E94D60"/>
                </a:solidFill>
              </a:defRPr>
            </a:pPr>
            <a: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114800"/>
            <a:ext cx="121916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645920"/>
            <a:ext cx="121916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200400"/>
            <a:ext cx="121916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3EBAC2"/>
                </a:solidFill>
              </a:defRPr>
            </a:pPr>
            <a:r>
              <a:t>Damilola Olaiya</a:t>
            </a:r>
          </a:p>
          <a:p>
            <a:pPr algn="ctr">
              <a:defRPr sz="1300">
                <a:solidFill>
                  <a:srgbClr val="E0E0E0"/>
                </a:solidFill>
              </a:defRPr>
            </a:pPr>
            <a:r>
              <a:t>damilolaolaiya@cmail.carleton.ca</a:t>
            </a:r>
          </a:p>
          <a:p/>
          <a:p>
            <a:pPr algn="ctr">
              <a:defRPr sz="1800">
                <a:solidFill>
                  <a:srgbClr val="3EBAC2"/>
                </a:solidFill>
              </a:defRPr>
            </a:pPr>
            <a:r>
              <a:t>Mithun Mani</a:t>
            </a:r>
          </a:p>
          <a:p>
            <a:pPr algn="ctr">
              <a:defRPr sz="1300">
                <a:solidFill>
                  <a:srgbClr val="E0E0E0"/>
                </a:solidFill>
              </a:defRPr>
            </a:pPr>
            <a:r>
              <a:t>mithunmani@cmail.carleton.ca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669280"/>
            <a:ext cx="121916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E94D60"/>
                </a:solidFill>
              </a:defRPr>
            </a:pPr>
            <a:r>
              <a:t>github.com/whiteblaze143/DATA_5000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