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motivation is simple: 12-lead ECGs are clinically essential but practically inaccessible.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lead isn't a wire—it's a viewpoint of heart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equations guarantee r=1.0 correlation for 4 leads—no learning required!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of 12 leads reconstructed perfectly via physics—zero learned error!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Counter-intuitively, simpler model wins! Parameter sharing provides regularization.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stricter than most prior work but gives honest generalization estimates.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V5 performs best (close to V4). V2 hardest (far from V4).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Overall 0.893 is inflated by physics leads. Honest DL metric: 0.744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We're below SOTA but use stricter evaluation. Prior work may have data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Hybrid approach: perfect physics + reasonable DL reconstruction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12-Lead ECG Reconstruction</a:t>
            </a:r>
            <a:br/>
            <a:r>
              <a:t>from Reduced Lead 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EBAC2"/>
                </a:solidFill>
              </a:defRPr>
            </a:pPr>
            <a:r>
              <a:t>A Hybrid Physics-Informed Deep Learning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657600"/>
            <a:ext cx="3047695" cy="18288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0E0E0"/>
                </a:solidFill>
              </a:defRPr>
            </a:pPr>
            <a:r>
              <a:t>Damilola Olaiya  •  Mithun Mani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0E0E0"/>
                </a:solidFill>
              </a:defRPr>
            </a:pPr>
            <a:r>
              <a:t>DATA 5000  |  Carleton University  |  December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Clinical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▸ Cardiovascular disease: #1 cause of death globally</a:t>
            </a:r>
          </a:p>
          <a:p>
            <a:pPr lvl="1"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17.9 million deaths annually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▸ 12-lead ECG: Gold standard for cardiac diagnosis</a:t>
            </a:r>
          </a:p>
          <a:p>
            <a:pPr lvl="1"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Detects arrhythmias, MI, conduction abnormalities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▸ The accessibility gap:</a:t>
            </a:r>
          </a:p>
          <a:p>
            <a:pPr lvl="1"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Requires 10 electrodes + precise placement</a:t>
            </a:r>
          </a:p>
          <a:p>
            <a:pPr lvl="1"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Needs trained technicians</a:t>
            </a:r>
          </a:p>
          <a:p>
            <a:pPr lvl="1"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Difficult in ambulances, homes, remote areas</a:t>
            </a:r>
          </a:p>
          <a:p>
            <a:pPr lvl="1"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Consumer wearables capture only 1-2 leads</a:t>
            </a:r>
          </a:p>
        </p:txBody>
      </p:sp>
      <p:pic>
        <p:nvPicPr>
          <p:cNvPr id="6" name="Picture 5" descr="problem_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280160"/>
            <a:ext cx="5029200" cy="19914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Research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▸ Can we reconstruct a full 12-lead ECG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▸ from only 3 measured leads?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▸ Our key insight: The 12 leads aren't independent!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▸ 3 Input leads: Measured (I, II, V4)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▸ 4 Physics leads: Exact equations (III, aVR, aVL, aVF)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▸ 5 DL leads: Neural network (V1, V2, V3, V5, V6)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▸ Hybrid approach combines physics guarantees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▸ with deep learning flexibility</a:t>
            </a:r>
          </a:p>
        </p:txBody>
      </p:sp>
      <p:pic>
        <p:nvPicPr>
          <p:cNvPr id="6" name="Picture 5" descr="approach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280160"/>
            <a:ext cx="5029200" cy="33651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METHODS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12-Lead ECG System</a:t>
            </a:r>
          </a:p>
        </p:txBody>
      </p:sp>
      <p:pic>
        <p:nvPicPr>
          <p:cNvPr id="5" name="Picture 4" descr="sample_ec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698480" cy="85348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0E0E0"/>
                </a:solidFill>
              </a:defRPr>
            </a:pPr>
            <a:r>
              <a:t>12-lead ECG provides 12 different views of cardiac electrical activity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Physics Module: Exact Lead Derivation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80160"/>
            <a:ext cx="10362895" cy="914400"/>
          </a:xfrm>
          <a:prstGeom prst="roundRect">
            <a:avLst/>
          </a:prstGeom>
          <a:solidFill>
            <a:srgbClr val="202038"/>
          </a:solidFill>
          <a:ln w="12700">
            <a:solidFill>
              <a:srgbClr val="0F4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417319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EBAC2"/>
                </a:solidFill>
              </a:defRPr>
            </a:pPr>
            <a:r>
              <a:t>Einthoven's Law (1903)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37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Lead III = Lead II − Lead 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68880"/>
            <a:ext cx="10362895" cy="914400"/>
          </a:xfrm>
          <a:prstGeom prst="roundRect">
            <a:avLst/>
          </a:prstGeom>
          <a:solidFill>
            <a:srgbClr val="202038"/>
          </a:solidFill>
          <a:ln w="12700">
            <a:solidFill>
              <a:srgbClr val="0F4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606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EBAC2"/>
                </a:solidFill>
              </a:defRPr>
            </a:pPr>
            <a:r>
              <a:t>Goldberger's Equation (aVR)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926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aVR = −(Lead I + Lead II) /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57600"/>
            <a:ext cx="10362895" cy="914400"/>
          </a:xfrm>
          <a:prstGeom prst="roundRect">
            <a:avLst/>
          </a:prstGeom>
          <a:solidFill>
            <a:srgbClr val="202038"/>
          </a:solidFill>
          <a:ln w="12700">
            <a:solidFill>
              <a:srgbClr val="0F4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7947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EBAC2"/>
                </a:solidFill>
              </a:defRPr>
            </a:pPr>
            <a:r>
              <a:t>Goldberger's Equation (aVL)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114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aVL = Lead I − Lead II /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846320"/>
            <a:ext cx="10362895" cy="914400"/>
          </a:xfrm>
          <a:prstGeom prst="roundRect">
            <a:avLst/>
          </a:prstGeom>
          <a:solidFill>
            <a:srgbClr val="202038"/>
          </a:solidFill>
          <a:ln w="12700">
            <a:solidFill>
              <a:srgbClr val="0F4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9834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EBAC2"/>
                </a:solidFill>
              </a:defRPr>
            </a:pPr>
            <a:r>
              <a:t>Goldberger's Equation (aVF)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303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aVF = Lead II − Lead I /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Physics Module: Perfect Reconstruction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-121980" y="1828800"/>
            <a:ext cx="3200400" cy="3200400"/>
          </a:xfrm>
          <a:prstGeom prst="roundRect">
            <a:avLst/>
          </a:prstGeom>
          <a:solidFill>
            <a:srgbClr val="202038"/>
          </a:solidFill>
          <a:ln w="254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-121980" y="256032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EC9B0"/>
                </a:solidFill>
              </a:defRPr>
            </a:pPr>
            <a:r>
              <a:t>1.000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21980" y="38404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E0E0E0"/>
                </a:solidFill>
              </a:defRPr>
            </a:pPr>
            <a:r>
              <a:t>Lead III</a:t>
            </a:r>
            <a:br/>
            <a:r>
              <a:t>Correlation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56438" y="1828800"/>
            <a:ext cx="3200400" cy="3200400"/>
          </a:xfrm>
          <a:prstGeom prst="roundRect">
            <a:avLst/>
          </a:prstGeom>
          <a:solidFill>
            <a:srgbClr val="202038"/>
          </a:solidFill>
          <a:ln w="254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56438" y="256032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EC9B0"/>
                </a:solidFill>
              </a:defRPr>
            </a:pPr>
            <a:r>
              <a:t>1.000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56438" y="38404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E0E0E0"/>
                </a:solidFill>
              </a:defRPr>
            </a:pPr>
            <a:r>
              <a:t>aVR</a:t>
            </a:r>
            <a:br/>
            <a:r>
              <a:t>Correlation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4857" y="1828800"/>
            <a:ext cx="3200400" cy="3200400"/>
          </a:xfrm>
          <a:prstGeom prst="roundRect">
            <a:avLst/>
          </a:prstGeom>
          <a:solidFill>
            <a:srgbClr val="202038"/>
          </a:solidFill>
          <a:ln w="254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4857" y="256032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EC9B0"/>
                </a:solidFill>
              </a:defRPr>
            </a:pPr>
            <a:r>
              <a:t>1.000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4857" y="38404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E0E0E0"/>
                </a:solidFill>
              </a:defRPr>
            </a:pPr>
            <a:r>
              <a:t>aVL</a:t>
            </a:r>
            <a:br/>
            <a:r>
              <a:t>Correlation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13276" y="1828800"/>
            <a:ext cx="3200400" cy="3200400"/>
          </a:xfrm>
          <a:prstGeom prst="roundRect">
            <a:avLst/>
          </a:prstGeom>
          <a:solidFill>
            <a:srgbClr val="202038"/>
          </a:solidFill>
          <a:ln w="254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13276" y="256032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EC9B0"/>
                </a:solidFill>
              </a:defRPr>
            </a:pPr>
            <a:r>
              <a:t>1.000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3276" y="38404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E0E0E0"/>
                </a:solidFill>
              </a:defRPr>
            </a:pPr>
            <a:r>
              <a:t>aVF</a:t>
            </a:r>
            <a:br/>
            <a:r>
              <a:t>Correlation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Neural Network: 1D U-Net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▸ Encoder-Decoder with Skip Connections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▸ Encoder Path (Downsampling):</a:t>
            </a:r>
          </a:p>
          <a:p>
            <a:pPr lvl="1"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3 → 64 → 128 → 256 → 512 channels</a:t>
            </a:r>
          </a:p>
          <a:p>
            <a:pPr lvl="1"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MaxPool1D reduces: 5000 → 312 timesteps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▸ Bottleneck: 1024 channels</a:t>
            </a:r>
          </a:p>
          <a:p>
            <a:pPr lvl="1"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Captures multi-beat context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▸ Decoder Path (Upsampling):</a:t>
            </a:r>
          </a:p>
          <a:p>
            <a:pPr lvl="1"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Skip connections preserve QRS spikes</a:t>
            </a:r>
          </a:p>
          <a:p>
            <a:pPr lvl="1"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Output: [B, 5, 5000]</a:t>
            </a:r>
          </a:p>
        </p:txBody>
      </p:sp>
      <p:pic>
        <p:nvPicPr>
          <p:cNvPr id="6" name="Picture 5" descr="architecture_diagram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280160"/>
            <a:ext cx="5029200" cy="21284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Model Ablation: Shared vs Lead-Specific Decoder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4114800"/>
          </a:xfrm>
          <a:prstGeom prst="roundRect">
            <a:avLst/>
          </a:prstGeom>
          <a:solidFill>
            <a:srgbClr val="202038"/>
          </a:solidFill>
          <a:ln w="381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4EC9B0"/>
                </a:solidFill>
              </a:defRPr>
            </a:pPr>
            <a:r>
              <a:t>Shared Decoder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5029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17.1M</a:t>
            </a:r>
            <a:br/>
            <a:r>
              <a:t>params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2926080"/>
            <a:ext cx="1005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E0E0E0"/>
                </a:solidFill>
              </a:defRPr>
            </a:pPr>
            <a:r>
              <a:t>vs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029200" cy="4114800"/>
          </a:xfrm>
          <a:prstGeom prst="roundRect">
            <a:avLst/>
          </a:prstGeom>
          <a:solidFill>
            <a:srgbClr val="202038"/>
          </a:solidFill>
          <a:ln w="38100">
            <a:solidFill>
              <a:srgbClr val="5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505070"/>
                </a:solidFill>
              </a:defRPr>
            </a:pPr>
            <a:r>
              <a:t>Lead-Specific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43200"/>
            <a:ext cx="5029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40.8M</a:t>
            </a:r>
            <a:br/>
            <a:r>
              <a:t>params</a:t>
            </a:r>
          </a:p>
        </p:txBody>
      </p:sp>
      <p:sp>
        <p:nvSpPr>
          <p:cNvPr id="12" name="Oval 11"/>
          <p:cNvSpPr/>
          <p:nvPr/>
        </p:nvSpPr>
        <p:spPr>
          <a:xfrm>
            <a:off x="4389120" y="1097280"/>
            <a:ext cx="1097280" cy="109728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234440"/>
            <a:ext cx="1097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DATASET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Dataset: PTB-XL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▸ Source: PhysioNet (publicly available)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▸ Total ECGs: 21,837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▸ Unique Patients: 18,885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▸ Sampling Rate: 500 Hz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▸ Duration: 10 seconds per recording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▸ Samples per Lead: 5,000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▸ Diagnostic labels (SNOMED-CT):</a:t>
            </a:r>
          </a:p>
          <a:p>
            <a:pPr lvl="1"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MI, AF, LBBB, RBBB, LVH, etc.</a:t>
            </a:r>
          </a:p>
        </p:txBody>
      </p:sp>
      <p:pic>
        <p:nvPicPr>
          <p:cNvPr id="6" name="Picture 5" descr="dataset_characteri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280160"/>
            <a:ext cx="5029200" cy="333592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Patient-Wise Data Splitting (Critical!)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▸ The Problem:</a:t>
            </a:r>
          </a:p>
          <a:p>
            <a:pPr lvl="1"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Some patients have multiple ECGs</a:t>
            </a:r>
          </a:p>
          <a:p>
            <a:pPr lvl="1"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Record-wise split → same patient in train AND test</a:t>
            </a:r>
          </a:p>
          <a:p>
            <a:pPr lvl="1"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Result: Data leakage → inflated metrics!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▸ Our Solution:</a:t>
            </a:r>
          </a:p>
          <a:p>
            <a:pPr lvl="1"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Split by PATIENT ID, not by record</a:t>
            </a:r>
          </a:p>
          <a:p>
            <a:pPr lvl="1"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Each patient in only ONE split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▸ Split Statistics:</a:t>
            </a:r>
          </a:p>
          <a:p>
            <a:pPr lvl="1"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Train: 14,363 (70%)</a:t>
            </a:r>
          </a:p>
          <a:p>
            <a:pPr lvl="1"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Validation: 3,086 (15%)</a:t>
            </a:r>
          </a:p>
          <a:p>
            <a:pPr lvl="1"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Test: 3,086 (15%)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Training Convergence</a:t>
            </a:r>
          </a:p>
        </p:txBody>
      </p:sp>
      <p:pic>
        <p:nvPicPr>
          <p:cNvPr id="5" name="Picture 4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698480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0E0E0"/>
                </a:solidFill>
              </a:defRPr>
            </a:pPr>
            <a:r>
              <a:t>Model converges smoothly over 150 epochs with ReduceLROnPlateau scheduler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Results: Deep Learning Leads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06727" y="1188720"/>
          <a:ext cx="87782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Lead</a:t>
                      </a:r>
                    </a:p>
                  </a:txBody>
                  <a:tcPr anchor="ctr">
                    <a:solidFill>
                      <a:srgbClr val="E94D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 anchor="ctr">
                    <a:solidFill>
                      <a:srgbClr val="E94D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Correlation</a:t>
                      </a:r>
                    </a:p>
                  </a:txBody>
                  <a:tcPr anchor="ctr">
                    <a:solidFill>
                      <a:srgbClr val="E94D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SNR (dB)</a:t>
                      </a:r>
                    </a:p>
                  </a:txBody>
                  <a:tcPr anchor="ctr">
                    <a:solidFill>
                      <a:srgbClr val="E94D6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V1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0.036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0.726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17.9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V2 (hardest)</a:t>
                      </a:r>
                    </a:p>
                  </a:txBody>
                  <a:tcPr anchor="ctr">
                    <a:solidFill>
                      <a:srgbClr val="1E1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0.041</a:t>
                      </a:r>
                    </a:p>
                  </a:txBody>
                  <a:tcPr anchor="ctr">
                    <a:solidFill>
                      <a:srgbClr val="1E1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0.683</a:t>
                      </a:r>
                    </a:p>
                  </a:txBody>
                  <a:tcPr anchor="ctr">
                    <a:solidFill>
                      <a:srgbClr val="1E1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17.1</a:t>
                      </a:r>
                    </a:p>
                  </a:txBody>
                  <a:tcPr anchor="ctr">
                    <a:solidFill>
                      <a:srgbClr val="1E1E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V3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0.036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0.765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17.8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V5 (best)</a:t>
                      </a:r>
                    </a:p>
                  </a:txBody>
                  <a:tcPr anchor="ctr">
                    <a:solidFill>
                      <a:srgbClr val="1E1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0.032</a:t>
                      </a:r>
                    </a:p>
                  </a:txBody>
                  <a:tcPr anchor="ctr">
                    <a:solidFill>
                      <a:srgbClr val="1E1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0.824</a:t>
                      </a:r>
                    </a:p>
                  </a:txBody>
                  <a:tcPr anchor="ctr">
                    <a:solidFill>
                      <a:srgbClr val="1E1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18.7</a:t>
                      </a:r>
                    </a:p>
                  </a:txBody>
                  <a:tcPr anchor="ctr">
                    <a:solidFill>
                      <a:srgbClr val="1E1E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V6</a:t>
                      </a:r>
                    </a:p>
                  </a:txBody>
                  <a:tcPr anchor="ctr">
                    <a:solidFill>
                      <a:srgbClr val="0F4C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0.038</a:t>
                      </a:r>
                    </a:p>
                  </a:txBody>
                  <a:tcPr anchor="ctr">
                    <a:solidFill>
                      <a:srgbClr val="0F4C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0.723</a:t>
                      </a:r>
                    </a:p>
                  </a:txBody>
                  <a:tcPr anchor="ctr">
                    <a:solidFill>
                      <a:srgbClr val="0F4C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17.2</a:t>
                      </a:r>
                    </a:p>
                  </a:txBody>
                  <a:tcPr anchor="ctr">
                    <a:solidFill>
                      <a:srgbClr val="0F4C7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Mean</a:t>
                      </a:r>
                    </a:p>
                  </a:txBody>
                  <a:tcPr anchor="ctr">
                    <a:solidFill>
                      <a:srgbClr val="1E1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0.037</a:t>
                      </a:r>
                    </a:p>
                  </a:txBody>
                  <a:tcPr anchor="ctr">
                    <a:solidFill>
                      <a:srgbClr val="1E1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0.744</a:t>
                      </a:r>
                    </a:p>
                  </a:txBody>
                  <a:tcPr anchor="ctr">
                    <a:solidFill>
                      <a:srgbClr val="1E1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17.8</a:t>
                      </a:r>
                    </a:p>
                  </a:txBody>
                  <a:tcPr anchor="ctr">
                    <a:solidFill>
                      <a:srgbClr val="1E1E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Overall 12-Lead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7623" y="1828800"/>
            <a:ext cx="3200400" cy="3200400"/>
          </a:xfrm>
          <a:prstGeom prst="roundRect">
            <a:avLst/>
          </a:prstGeom>
          <a:solidFill>
            <a:srgbClr val="202038"/>
          </a:solidFill>
          <a:ln w="25400">
            <a:solidFill>
              <a:srgbClr val="3EB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623" y="256032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3EBAC2"/>
                </a:solidFill>
              </a:defRPr>
            </a:pPr>
            <a:r>
              <a:t>0.893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623" y="38404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E0E0E0"/>
                </a:solidFill>
              </a:defRPr>
            </a:pPr>
            <a:r>
              <a:t>Overall</a:t>
            </a:r>
            <a:br/>
            <a:r>
              <a:t>Correlation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5647" y="1828800"/>
            <a:ext cx="3200400" cy="3200400"/>
          </a:xfrm>
          <a:prstGeom prst="roundRect">
            <a:avLst/>
          </a:prstGeom>
          <a:solidFill>
            <a:srgbClr val="202038"/>
          </a:solidFill>
          <a:ln w="2540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5647" y="256032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CC00"/>
                </a:solidFill>
              </a:defRPr>
            </a:pPr>
            <a:r>
              <a:t>0.744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5647" y="38404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E0E0E0"/>
                </a:solidFill>
              </a:defRPr>
            </a:pPr>
            <a:r>
              <a:t>DL Leads</a:t>
            </a:r>
            <a:br/>
            <a:r>
              <a:t>Correlation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43671" y="1828800"/>
            <a:ext cx="3200400" cy="3200400"/>
          </a:xfrm>
          <a:prstGeom prst="roundRect">
            <a:avLst/>
          </a:prstGeom>
          <a:solidFill>
            <a:srgbClr val="202038"/>
          </a:solidFill>
          <a:ln w="254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3671" y="256032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EC9B0"/>
                </a:solidFill>
              </a:defRPr>
            </a:pPr>
            <a:r>
              <a:t>0.015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3671" y="38404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E0E0E0"/>
                </a:solidFill>
              </a:defRPr>
            </a:pPr>
            <a:r>
              <a:t>Overall</a:t>
            </a:r>
            <a:br/>
            <a:r>
              <a:t>MAE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Reconstruction Example: Ground Truth vs Predicted</a:t>
            </a:r>
          </a:p>
        </p:txBody>
      </p:sp>
      <p:pic>
        <p:nvPicPr>
          <p:cNvPr id="5" name="Picture 4" descr="best_reconstr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698480" cy="85348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0E0E0"/>
                </a:solidFill>
              </a:defRPr>
            </a:pPr>
            <a:r>
              <a:t>Visual comparison of reconstructed ECG leads against ground truth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Per-Lead Performance Analysis</a:t>
            </a:r>
          </a:p>
        </p:txBody>
      </p:sp>
      <p:pic>
        <p:nvPicPr>
          <p:cNvPr id="5" name="Picture 4" descr="per_lead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698480" cy="44551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0E0E0"/>
                </a:solidFill>
              </a:defRPr>
            </a:pPr>
            <a:r>
              <a:t>Correlation varies by lead proximity to input V4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ANALYSIS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Information Bottleneck: Why V2 is Hard</a:t>
            </a:r>
          </a:p>
        </p:txBody>
      </p:sp>
      <p:pic>
        <p:nvPicPr>
          <p:cNvPr id="5" name="Picture 4" descr="information_bottleneck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698480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0E0E0"/>
                </a:solidFill>
              </a:defRPr>
            </a:pPr>
            <a:r>
              <a:t>V2 has only 0.36 ground truth correlation with V4 — fundamental limit on reconstruction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Ground Truth Inter-Lead Correlations</a:t>
            </a:r>
          </a:p>
        </p:txBody>
      </p:sp>
      <p:pic>
        <p:nvPicPr>
          <p:cNvPr id="5" name="Picture 4" descr="lead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698480" cy="91452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0E0E0"/>
                </a:solidFill>
              </a:defRPr>
            </a:pPr>
            <a:r>
              <a:t>Low V4↔V1/V2 correlation explains reconstruction difficulty for right precordial leads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Comparison with State-of-the-Art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06727" y="1188720"/>
          <a:ext cx="87782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E94D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 anchor="ctr">
                    <a:solidFill>
                      <a:srgbClr val="E94D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Chest r</a:t>
                      </a:r>
                    </a:p>
                  </a:txBody>
                  <a:tcPr anchor="ctr">
                    <a:solidFill>
                      <a:srgbClr val="E94D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Data Split</a:t>
                      </a:r>
                    </a:p>
                  </a:txBody>
                  <a:tcPr anchor="ctr">
                    <a:solidFill>
                      <a:srgbClr val="E94D6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Linear (Frank)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1970s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0.70-0.75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CNN (Sohn)</a:t>
                      </a:r>
                    </a:p>
                  </a:txBody>
                  <a:tcPr anchor="ctr">
                    <a:solidFill>
                      <a:srgbClr val="1E1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2020</a:t>
                      </a:r>
                    </a:p>
                  </a:txBody>
                  <a:tcPr anchor="ctr">
                    <a:solidFill>
                      <a:srgbClr val="1E1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0.85</a:t>
                      </a:r>
                    </a:p>
                  </a:txBody>
                  <a:tcPr anchor="ctr">
                    <a:solidFill>
                      <a:srgbClr val="1E1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Record-wise</a:t>
                      </a:r>
                    </a:p>
                  </a:txBody>
                  <a:tcPr anchor="ctr">
                    <a:solidFill>
                      <a:srgbClr val="1E1E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LSTM (Lee)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2021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0.88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Record-wise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Transformer</a:t>
                      </a:r>
                    </a:p>
                  </a:txBody>
                  <a:tcPr anchor="ctr">
                    <a:solidFill>
                      <a:srgbClr val="1E1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 anchor="ctr">
                    <a:solidFill>
                      <a:srgbClr val="1E1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0.90</a:t>
                      </a:r>
                    </a:p>
                  </a:txBody>
                  <a:tcPr anchor="ctr">
                    <a:solidFill>
                      <a:srgbClr val="1E1E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Record-wise</a:t>
                      </a:r>
                    </a:p>
                  </a:txBody>
                  <a:tcPr anchor="ctr">
                    <a:solidFill>
                      <a:srgbClr val="1E1E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Ours</a:t>
                      </a:r>
                    </a:p>
                  </a:txBody>
                  <a:tcPr anchor="ctr">
                    <a:solidFill>
                      <a:srgbClr val="0F4C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F4C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0.744</a:t>
                      </a:r>
                    </a:p>
                  </a:txBody>
                  <a:tcPr anchor="ctr">
                    <a:solidFill>
                      <a:srgbClr val="0F4C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0E0E0"/>
                          </a:solidFill>
                        </a:defRPr>
                      </a:pPr>
                      <a:r>
                        <a:t>Patient-wise</a:t>
                      </a:r>
                    </a:p>
                  </a:txBody>
                  <a:tcPr anchor="ctr">
                    <a:solidFill>
                      <a:srgbClr val="0F4C7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Gap Analysis: Why Below SOTA?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▸ Three factors explain the performance gap: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▸ 1. Patient-wise splitting (stricter, more honest)</a:t>
            </a:r>
          </a:p>
          <a:p>
            <a:pPr lvl="1"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Prior work uses record-wise → data leakage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▸ 2. Input lead choice (I, II, V4)</a:t>
            </a:r>
          </a:p>
          <a:p>
            <a:pPr lvl="1"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V4 has low correlation with V1/V2</a:t>
            </a:r>
          </a:p>
          <a:p>
            <a:pPr lvl="1"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Information bottleneck limits reconstruction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▸ 3. No data augmentation or pretrained weights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4EC9B0"/>
                </a:solidFill>
              </a:defRPr>
            </a:pPr>
            <a:r>
              <a:t>✓ Our advantage: Physics guarantees + honest evaluation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EC9B0"/>
                </a:solidFill>
              </a:defRPr>
            </a:pPr>
            <a:r>
              <a:t>✓ Physics constraints work perfectly</a:t>
            </a:r>
          </a:p>
          <a:p>
            <a:pPr lvl="1"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Limb leads: r = 1.0 guaranteed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4EC9B0"/>
                </a:solidFill>
              </a:defRPr>
            </a:pPr>
            <a:r>
              <a:t>✓ Simpler models win with limited input</a:t>
            </a:r>
          </a:p>
          <a:p>
            <a:pPr lvl="1"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Shared decoder beats lead-specific by 5.3%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CC00"/>
                </a:solidFill>
              </a:defRPr>
            </a:pPr>
            <a:r>
              <a:t>⚠ Information bottleneck is the fundamental limit</a:t>
            </a:r>
          </a:p>
          <a:p>
            <a:pPr lvl="1"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V4 ↔ V2 correlation only 0.36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CC00"/>
                </a:solidFill>
              </a:defRPr>
            </a:pPr>
            <a:r>
              <a:t>⚠ Input selection &gt; model architecture</a:t>
            </a:r>
          </a:p>
          <a:p>
            <a:pPr lvl="1"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Adding V2 as input would improve V2 reconstruction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▸ Single Dataset</a:t>
            </a:r>
          </a:p>
          <a:p>
            <a:pPr lvl="1"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Only PTB-XL tested — generalization unknown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▸ Resting ECGs Only</a:t>
            </a:r>
          </a:p>
          <a:p>
            <a:pPr lvl="1"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No stress/exercise ECGs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▸ Input Lead Dependency</a:t>
            </a:r>
          </a:p>
          <a:p>
            <a:pPr lvl="1"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Results specific to (I, II, V4) configuration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▸ No Downstream Validation</a:t>
            </a:r>
          </a:p>
          <a:p>
            <a:pPr lvl="1"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Signal metrics only, no classification test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▸ No Uncertainty Quantification</a:t>
            </a:r>
          </a:p>
          <a:p>
            <a:pPr lvl="1"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Point estimates only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Future Directions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▸ Input Lead Optimization</a:t>
            </a:r>
          </a:p>
          <a:p>
            <a:pPr lvl="1"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Test: (I, II, V2), (I, II, V3), (I, II, V2+V4)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▸ Uncertainty Quantification</a:t>
            </a:r>
          </a:p>
          <a:p>
            <a:pPr lvl="1"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Add probabilistic head (VAE, MC Dropout)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▸ External Validation</a:t>
            </a:r>
          </a:p>
          <a:p>
            <a:pPr lvl="1"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Chapman-Shaoxing, MIMIC-IV-ECG datasets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▸ Downstream Validation</a:t>
            </a:r>
          </a:p>
          <a:p>
            <a:pPr lvl="1"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Multi-label classification on reconstructed ECGs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▸ Foundation Model Approach</a:t>
            </a:r>
          </a:p>
          <a:p>
            <a:pPr lvl="1"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Self-supervised pretraining on millions of ECGs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7623" y="1828800"/>
            <a:ext cx="3200400" cy="3200400"/>
          </a:xfrm>
          <a:prstGeom prst="roundRect">
            <a:avLst/>
          </a:prstGeom>
          <a:solidFill>
            <a:srgbClr val="202038"/>
          </a:solidFill>
          <a:ln w="254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623" y="256032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EC9B0"/>
                </a:solidFill>
              </a:defRPr>
            </a:pPr>
            <a:r>
              <a:t>r = 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623" y="38404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E0E0E0"/>
                </a:solidFill>
              </a:defRPr>
            </a:pPr>
            <a:r>
              <a:t>Physics Leads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5647" y="1828800"/>
            <a:ext cx="3200400" cy="3200400"/>
          </a:xfrm>
          <a:prstGeom prst="roundRect">
            <a:avLst/>
          </a:prstGeom>
          <a:solidFill>
            <a:srgbClr val="202038"/>
          </a:solidFill>
          <a:ln w="2540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5647" y="256032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CC00"/>
                </a:solidFill>
              </a:defRPr>
            </a:pPr>
            <a:r>
              <a:t>r = 0.744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5647" y="38404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E0E0E0"/>
                </a:solidFill>
              </a:defRPr>
            </a:pPr>
            <a:r>
              <a:t>DL Leads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43671" y="1828800"/>
            <a:ext cx="3200400" cy="3200400"/>
          </a:xfrm>
          <a:prstGeom prst="roundRect">
            <a:avLst/>
          </a:prstGeom>
          <a:solidFill>
            <a:srgbClr val="202038"/>
          </a:solidFill>
          <a:ln w="25400">
            <a:solidFill>
              <a:srgbClr val="3EB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3671" y="256032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3EBAC2"/>
                </a:solidFill>
              </a:defRPr>
            </a:pPr>
            <a:r>
              <a:t>r = 0.893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3671" y="38404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E0E0E0"/>
                </a:solidFill>
              </a:defRPr>
            </a:pPr>
            <a:r>
              <a:t>Overall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Code &amp;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▸ GitHub Repository</a:t>
            </a:r>
          </a:p>
          <a:p>
            <a:pPr lvl="1"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github.com/whiteblaze143/DATA_5000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▸ Key Files:</a:t>
            </a:r>
          </a:p>
          <a:p>
            <a:pPr lvl="1"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run_training.py — Main entry point</a:t>
            </a:r>
          </a:p>
          <a:p>
            <a:pPr lvl="1"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src/physics.py — Einthoven/Goldberger</a:t>
            </a:r>
          </a:p>
          <a:p>
            <a:pPr lvl="1"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src/models/unet_1d.py — U-Net architecture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▸ Trained Model:</a:t>
            </a:r>
          </a:p>
          <a:p>
            <a:pPr lvl="1"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models/overnight_full/best_model.pt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</a:defRPr>
            </a:pPr>
            <a:r>
              <a:t>▸ Results:</a:t>
            </a:r>
          </a:p>
          <a:p>
            <a:pPr lvl="1"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models/model_comparison_metrics.json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0" b="1">
                <a:solidFill>
                  <a:srgbClr val="E94D60"/>
                </a:solidFill>
              </a:defRPr>
            </a:pPr>
            <a: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11480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8288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474720"/>
            <a:ext cx="12191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3EBAC2"/>
                </a:solidFill>
              </a:defRPr>
            </a:pPr>
            <a:r>
              <a:t>Damilola Olaiya</a:t>
            </a:r>
          </a:p>
          <a:p>
            <a:pPr algn="ctr">
              <a:defRPr sz="1600">
                <a:solidFill>
                  <a:srgbClr val="E0E0E0"/>
                </a:solidFill>
              </a:defRPr>
            </a:pPr>
            <a:r>
              <a:t>damilolaolaiya@cmail.carleton.ca</a:t>
            </a:r>
          </a:p>
          <a:p>
            <a:pPr>
              <a:defRPr sz="1000"/>
            </a:pPr>
          </a:p>
          <a:p>
            <a:pPr algn="ctr">
              <a:defRPr sz="2000">
                <a:solidFill>
                  <a:srgbClr val="3EBAC2"/>
                </a:solidFill>
              </a:defRPr>
            </a:pPr>
            <a:r>
              <a:t>Mithun Mani</a:t>
            </a:r>
          </a:p>
          <a:p>
            <a:pPr algn="ctr">
              <a:defRPr sz="1600">
                <a:solidFill>
                  <a:srgbClr val="E0E0E0"/>
                </a:solidFill>
              </a:defRPr>
            </a:pPr>
            <a:r>
              <a:t>mithunmani@cmail.carleton.ca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669280"/>
            <a:ext cx="121916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94D60"/>
                </a:solidFill>
              </a:defRPr>
            </a:pPr>
            <a:r>
              <a:t>github.com/whiteblaze143/DATA_5000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